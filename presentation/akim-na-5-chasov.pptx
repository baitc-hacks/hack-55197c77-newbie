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dc237578d64bdc" /><Relationship Type="http://schemas.openxmlformats.org/officeDocument/2006/relationships/extended-properties" Target="/docProps/app.xml" Id="Rc8ce5edc1bb345c8" /><Relationship Type="http://schemas.openxmlformats.org/officeDocument/2006/relationships/officeDocument" Target="/ppt/presentation.xml" Id="Reaabf2547ad942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fb53db7da74586"/>
  </p:sldMasterIdLst>
  <p:notesMasterIdLst>
    <p:notesMasterId xmlns:r="http://schemas.openxmlformats.org/officeDocument/2006/relationships" r:id="R739f73d5e8d14487"/>
  </p:notesMasterIdLst>
  <p:sldIdLst>
    <p:sldId xmlns:r="http://schemas.openxmlformats.org/officeDocument/2006/relationships" id="256" r:id="Redb564bf8cdd4485"/>
    <p:sldId xmlns:r="http://schemas.openxmlformats.org/officeDocument/2006/relationships" id="257" r:id="Rbba5ae2ca53048bb"/>
    <p:sldId xmlns:r="http://schemas.openxmlformats.org/officeDocument/2006/relationships" id="258" r:id="R29ea80105915430d"/>
    <p:sldId xmlns:r="http://schemas.openxmlformats.org/officeDocument/2006/relationships" id="259" r:id="R516f69718ad844cf"/>
    <p:sldId xmlns:r="http://schemas.openxmlformats.org/officeDocument/2006/relationships" id="260" r:id="R84a017b1042d4e76"/>
    <p:sldId xmlns:r="http://schemas.openxmlformats.org/officeDocument/2006/relationships" id="261" r:id="Rd235ff3120de4bb0"/>
    <p:sldId xmlns:r="http://schemas.openxmlformats.org/officeDocument/2006/relationships" id="262" r:id="R0cb5e169dad144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4dd15c6286432d" /><Relationship Type="http://schemas.openxmlformats.org/officeDocument/2006/relationships/slideMaster" Target="/ppt/slideMasters/slideMaster1.xml" Id="R52fb53db7da74586" /><Relationship Type="http://schemas.openxmlformats.org/officeDocument/2006/relationships/notesMaster" Target="/ppt/notesMasters/notesMaster1.xml" Id="R739f73d5e8d14487" /><Relationship Type="http://schemas.openxmlformats.org/officeDocument/2006/relationships/presProps" Target="/ppt/presProps.xml" Id="R0af3b66a267f47ce" /><Relationship Type="http://schemas.openxmlformats.org/officeDocument/2006/relationships/tableStyles" Target="/ppt/tableStyles.xml" Id="R644848f380dd47c4" /><Relationship Type="http://schemas.openxmlformats.org/officeDocument/2006/relationships/slide" Target="/ppt/slides/slide1.xml" Id="Redb564bf8cdd4485" /><Relationship Type="http://schemas.openxmlformats.org/officeDocument/2006/relationships/slide" Target="/ppt/slides/slide2.xml" Id="Rbba5ae2ca53048bb" /><Relationship Type="http://schemas.openxmlformats.org/officeDocument/2006/relationships/slide" Target="/ppt/slides/slide3.xml" Id="R29ea80105915430d" /><Relationship Type="http://schemas.openxmlformats.org/officeDocument/2006/relationships/slide" Target="/ppt/slides/slide4.xml" Id="R516f69718ad844cf" /><Relationship Type="http://schemas.openxmlformats.org/officeDocument/2006/relationships/slide" Target="/ppt/slides/slide5.xml" Id="R84a017b1042d4e76" /><Relationship Type="http://schemas.openxmlformats.org/officeDocument/2006/relationships/slide" Target="/ppt/slides/slide6.xml" Id="Rd235ff3120de4bb0" /><Relationship Type="http://schemas.openxmlformats.org/officeDocument/2006/relationships/slide" Target="/ppt/slides/slide7.xml" Id="R0cb5e169dad144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ab69790c194d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1d426be8a24bd8" /><Relationship Type="http://schemas.openxmlformats.org/officeDocument/2006/relationships/notesMaster" Target="/ppt/notesMasters/notesMaster1.xml" Id="Rd5778b9ba3c242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ff740acc3a4943" /><Relationship Type="http://schemas.openxmlformats.org/officeDocument/2006/relationships/notesMaster" Target="/ppt/notesMasters/notesMaster1.xml" Id="R635ce119d00749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804b94c76a4290" /><Relationship Type="http://schemas.openxmlformats.org/officeDocument/2006/relationships/notesMaster" Target="/ppt/notesMasters/notesMaster1.xml" Id="Rea5ff24faa9244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7f689b48554ec7" /><Relationship Type="http://schemas.openxmlformats.org/officeDocument/2006/relationships/notesMaster" Target="/ppt/notesMasters/notesMaster1.xml" Id="Ra9f00a92212b45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5798f4e5c74073" /><Relationship Type="http://schemas.openxmlformats.org/officeDocument/2006/relationships/notesMaster" Target="/ppt/notesMasters/notesMaster1.xml" Id="Rc2a37b2d1fdd41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16178c0fae4207" /><Relationship Type="http://schemas.openxmlformats.org/officeDocument/2006/relationships/notesMaster" Target="/ppt/notesMasters/notesMaster1.xml" Id="Rd106986a2e0b4d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8aada9794f4980" /><Relationship Type="http://schemas.openxmlformats.org/officeDocument/2006/relationships/notesMaster" Target="/ppt/notesMasters/notesMaster1.xml" Id="Rb66e90f8c86445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 секунд. «Аким на 5 часов» помогает сравнить последствия пяти городских решений при ограниченном бюджете. Покажем работающий учебный симулятор и пример, где одна смена района меняет 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ТЗ: https://docs.google.com/document/d/1oDZtYnBgbcn_Ii7vleP87hkARJ2HmbXl7Cw_rsCxqpo/edit</a:t>
            </a:r>
          </a:p>
          <a:p xmlns:a="http://schemas.openxmlformats.org/drawingml/2006/main">
            <a:r>
              <a:t>Датасет: https://docs.google.com/document/d/1Uc-GdGoKhDY-spu8V50-ZMm33t2CjYLP/edit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 секунд. Есть пять районов с разными исходными показателями. Из четырнадцати мер нужно выбрать ровно пять. Бюджет ограничен ста условными единицами. Модель учитывает сроки внедрения, несовместимости и синергии. Данные организаторов синтетические.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ТЗ: https://docs.google.com/document/d/1oDZtYnBgbcn_Ii7vleP87hkARJ2HmbXl7Cw_rsCxqpo/edit</a:t>
            </a:r>
          </a:p>
          <a:p xmlns:a="http://schemas.openxmlformats.org/drawingml/2006/main">
            <a:r>
              <a:t>Датасет: https://docs.google.com/document/d/1Uc-GdGoKhDY-spu8V50-ZMm33t2CjYLP/edit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 секунд. Пользователь изучает карту и паспорт района, выбирает меры и место реализации. Бюджет виден во время выбора. После расчёта он видит показатели до и после и сохраняет сценарий A для сравнения с текущим B. Карта взята из самого приложения. Географический ориентир: https://www.gov.kz/memleket/entities/astana-nura/press/news/details/560659?lang=ru . Контуры обобщены, административная точность не заявляется.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ТЗ: https://docs.google.com/document/d/1oDZtYnBgbcn_Ii7vleP87hkARJ2HmbXl7Cw_rsCxqpo/edit</a:t>
            </a:r>
          </a:p>
          <a:p xmlns:a="http://schemas.openxmlformats.org/drawingml/2006/main">
            <a:r>
              <a:t>Датасет: https://docs.google.com/document/d/1Uc-GdGoKhDY-spu8V50-ZMm33t2CjYLP/edit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 секунд. Python сначала проверяет ограничения и вычисляет результат из JSON. Модель учитывает восемь кварталов, лаги, синергии и порог критичности ниже сорока. По отдельной кнопке настоящий запрос в OpenAI объясняет уже рассчитанный сценарий. AI не создаёт числовые результаты и не изменяет Score. AI требует интернет и конфигурацию команды. Источники реализации: simulator.py, ai_analysis.py, README.md.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ТЗ: https://docs.google.com/document/d/1oDZtYnBgbcn_Ii7vleP87hkARJ2HmbXl7Cw_rsCxqpo/edit</a:t>
            </a:r>
          </a:p>
          <a:p xmlns:a="http://schemas.openxmlformats.org/drawingml/2006/main">
            <a:r>
              <a:t>Датасет: https://docs.google.com/document/d/1Uc-GdGoKhDY-spu8V50-ZMm33t2CjYLP/edit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секунд. Сценарий A повторяет пример организаторов: M7, M8 и M10 в Нуре, M12 по городу и M5 в Сарыарке. В B только школу и детсад M7 переносим из Нуры в Есиль. Расходы равны 95, но Score A 56,54307, B 55,29777. В A нет критических показателей, в B остаётся один. По сравнению с A оценка Есиля в B больше на 1,10, Нуры меньше на 1,10. A лучше только в этом сравнении, глобальный оптимум не заявляем. Числа получены из simulator.py.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ТЗ: https://docs.google.com/document/d/1oDZtYnBgbcn_Ii7vleP87hkARJ2HmbXl7Cw_rsCxqpo/edit</a:t>
            </a:r>
          </a:p>
          <a:p xmlns:a="http://schemas.openxmlformats.org/drawingml/2006/main">
            <a:r>
              <a:t>Датасет: https://docs.google.com/document/d/1Uc-GdGoKhDY-spu8V50-ZMm33t2CjYLP/edit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 секунд. Числовая модель работает локально на стандартной библиотеке Python. 28 автоматических тестов покрывают математику, HTTP и AI-контракт. Команда отдельно проверила настоящий API-запрос 23 сентября. Сценарий A сохраняется в браузере. Разработка выполнена с существенной помощью OpenAI Codex. Источники: README.md, tests/, docs/THIRD_PARTY.md.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ТЗ: https://docs.google.com/document/d/1oDZtYnBgbcn_Ii7vleP87hkARJ2HmbXl7Cw_rsCxqpo/edit</a:t>
            </a:r>
          </a:p>
          <a:p xmlns:a="http://schemas.openxmlformats.org/drawingml/2006/main">
            <a:r>
              <a:t>Датасет: https://docs.google.com/document/d/1Uc-GdGoKhDY-spu8V50-ZMm33t2CjYLP/edit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 секунд. Демонстрация: загрузить пример, рассчитать, сохранить A, перенести M7 в Есиль, рассчитать текущий B и сравнить с A. Затем получить AI-анализ и скачать отчёт. Ограничения: синтетические данные, отсутствие глобального поиска оптимума и случайных событий, локальный сервер. Следующий шаг: подтвердить трактовку направлений у организаторов и проверить модель на реальных данных с экспертами.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ТЗ: https://docs.google.com/document/d/1oDZtYnBgbcn_Ii7vleP87hkARJ2HmbXl7Cw_rsCxqpo/edit</a:t>
            </a:r>
          </a:p>
          <a:p xmlns:a="http://schemas.openxmlformats.org/drawingml/2006/main">
            <a:r>
              <a:t>Датасет: https://docs.google.com/document/d/1Uc-GdGoKhDY-spu8V50-ZMm33t2CjYLP/edit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b229e636604b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0675c974934d3a" /><Relationship Type="http://schemas.openxmlformats.org/officeDocument/2006/relationships/slideLayout" Target="/ppt/slideLayouts/slideLayout1.xml" Id="R0bc1e7f718154d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c1e7f718154d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4fe64fa02426a" /><Relationship Type="http://schemas.openxmlformats.org/officeDocument/2006/relationships/image" Target="/ppt/media/image.png" Id="R46d2d22e1a8949d8" /><Relationship Type="http://schemas.openxmlformats.org/officeDocument/2006/relationships/notesSlide" Target="/ppt/notesSlides/notesSlide1.xml" Id="R174538a3a7a44d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8980ef4c948ce" /><Relationship Type="http://schemas.openxmlformats.org/officeDocument/2006/relationships/notesSlide" Target="/ppt/notesSlides/notesSlide2.xml" Id="R037693f3941343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6d11262be462f" /><Relationship Type="http://schemas.openxmlformats.org/officeDocument/2006/relationships/image" Target="/ppt/media/image2.png" Id="R031519761f8440c4" /><Relationship Type="http://schemas.openxmlformats.org/officeDocument/2006/relationships/notesSlide" Target="/ppt/notesSlides/notesSlide3.xml" Id="Rae2bf02c4ea141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a8765519b4d9e" /><Relationship Type="http://schemas.openxmlformats.org/officeDocument/2006/relationships/notesSlide" Target="/ppt/notesSlides/notesSlide4.xml" Id="R1fade571bbb048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ca6f01f964501" /><Relationship Type="http://schemas.openxmlformats.org/officeDocument/2006/relationships/notesSlide" Target="/ppt/notesSlides/notesSlide5.xml" Id="R9b9d5ad0cd1a4f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e7e0330284436" /><Relationship Type="http://schemas.openxmlformats.org/officeDocument/2006/relationships/notesSlide" Target="/ppt/notesSlides/notesSlide6.xml" Id="Rb0db21d32ebc48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9a40ac38a45dd" /><Relationship Type="http://schemas.openxmlformats.org/officeDocument/2006/relationships/notesSlide" Target="/ppt/notesSlides/notesSlide7.xml" Id="R9df512f4362347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2d22e1a8949d8"/>
          <a:stretch xmlns:a="http://schemas.openxmlformats.org/drawingml/2006/main"/>
        </p:blipFill>
        <p:spPr>
          <a:xfrm xmlns:a="http://schemas.openxmlformats.org/drawingml/2006/main">
            <a:off x="685800" y="619125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A6725-459D-4E72-B01C-82794418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57425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0">
                <a:solidFill>
                  <a:srgbClr val="183B36"/>
                </a:solidFill>
                <a:latin typeface="Georgia"/>
                <a:ea typeface="Georgia"/>
                <a:cs typeface="Georgia"/>
              </a:defRPr>
            </a:pPr>
            <a:r>
              <a:rPr sz="6450" b="0">
                <a:solidFill>
                  <a:srgbClr val="183B36"/>
                </a:solidFill>
                <a:latin typeface="Georgia"/>
                <a:ea typeface="Georgia"/>
                <a:cs typeface="Georgia"/>
              </a:rPr>
              <a:t>Аким на 5 часов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ABC2F-7621-4E9D-A2E4-5DEC9DB6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62736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62736B"/>
                </a:solidFill>
                <a:latin typeface="Arial"/>
                <a:ea typeface="Arial"/>
                <a:cs typeface="Arial"/>
              </a:rPr>
              <a:t>Симулятор городских решений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A0C75-6833-4294-9E5E-68C1908B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B36"/>
                </a:solidFill>
                <a:latin typeface="Arial"/>
                <a:ea typeface="Arial"/>
                <a:cs typeface="Arial"/>
              </a:rPr>
              <a:t>Пять решений. Бюджет 100. Горизонт 2 года.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27635-DF23-4C32-A5A6-D06F9F55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3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736B"/>
                </a:solidFill>
                <a:latin typeface="Arial"/>
                <a:ea typeface="Arial"/>
                <a:cs typeface="Arial"/>
              </a:rPr>
              <a:t>Учебная модель Астаны</a:t>
            </a:r>
          </a:p>
        </p:txBody>
      </p:sp>
    </p:spTree>
    <p:extLst>
      <p:ext uri="{BB962C8B-B14F-4D97-AF65-F5344CB8AC3E}">
        <p14:creationId xmlns:p14="http://schemas.microsoft.com/office/powerpoint/2010/main" val="7627328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8CC54-8A3F-4C65-92A4-351ED8D7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183B36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183B36"/>
                </a:solidFill>
                <a:latin typeface="Georgia"/>
                <a:ea typeface="Georgia"/>
                <a:cs typeface="Georgia"/>
              </a:rPr>
              <a:t>Условия городского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DA0F0-8900-4558-B6A3-DEE6F536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62736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2736B"/>
                </a:solidFill>
                <a:latin typeface="Arial"/>
                <a:ea typeface="Arial"/>
                <a:cs typeface="Arial"/>
              </a:rPr>
              <a:t>У районов разные потребности, а бюджет общий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883AC-2563-4BCF-AA5F-5DB88425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209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94E42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94E4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575BD-19B4-4F95-8E43-6CDE3048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73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736B"/>
                </a:solidFill>
                <a:latin typeface="Arial"/>
                <a:ea typeface="Arial"/>
                <a:cs typeface="Arial"/>
              </a:rPr>
              <a:t>районов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8E090-2D44-4D65-A03E-695D6EB7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76525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94E42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94E4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DB0D4-D418-45E3-A27F-3DDFF12E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29025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73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736B"/>
                </a:solidFill>
                <a:latin typeface="Arial"/>
                <a:ea typeface="Arial"/>
                <a:cs typeface="Arial"/>
              </a:rPr>
              <a:t>условных единиц</a:t>
            </a:r>
          </a:p>
          <a:p xmlns:a="http://schemas.openxmlformats.org/drawingml/2006/main">
            <a:pPr>
              <a:defRPr sz="1875" b="0">
                <a:solidFill>
                  <a:srgbClr val="6273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736B"/>
                </a:solidFill>
                <a:latin typeface="Arial"/>
                <a:ea typeface="Arial"/>
                <a:cs typeface="Arial"/>
              </a:rPr>
              <a:t>бюджета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68CC9-D721-4F75-84DB-B77285CE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76525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94E42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94E4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2C83E-CDCC-4D0D-AA73-58E119EC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29025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73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736B"/>
                </a:solidFill>
                <a:latin typeface="Arial"/>
                <a:ea typeface="Arial"/>
                <a:cs typeface="Arial"/>
              </a:rPr>
              <a:t>доступных мер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88E89-4660-4E16-B754-41380B1D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76525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94E42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94E4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642E0-AEAD-40A3-BC4A-97B9A6AE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29025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73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736B"/>
                </a:solidFill>
                <a:latin typeface="Arial"/>
                <a:ea typeface="Arial"/>
                <a:cs typeface="Arial"/>
              </a:rPr>
              <a:t>года расчёта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ADB39-EB79-45B6-87FA-12E7EB83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1076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Ровно 5 мер. Не более 2 из одного направления.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792D8-4171-400A-ACCE-28236BD1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7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736B"/>
                </a:solidFill>
                <a:latin typeface="Arial"/>
                <a:ea typeface="Arial"/>
                <a:cs typeface="Arial"/>
              </a:rPr>
              <a:t>Синтетические данные организаторов. Результат описывает учебную модель.</a:t>
            </a:r>
          </a:p>
        </p:txBody>
      </p:sp>
    </p:spTree>
    <p:extLst>
      <p:ext uri="{BB962C8B-B14F-4D97-AF65-F5344CB8AC3E}">
        <p14:creationId xmlns:p14="http://schemas.microsoft.com/office/powerpoint/2010/main" val="4786380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CE73A-A5AE-4C00-9758-AE6F45C7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183B36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183B36"/>
                </a:solidFill>
                <a:latin typeface="Georgia"/>
                <a:ea typeface="Georgia"/>
                <a:cs typeface="Georgia"/>
              </a:rPr>
              <a:t>Путь пользователя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519761f8440c4"/>
          <a:stretch xmlns:a="http://schemas.openxmlformats.org/drawingml/2006/main"/>
        </p:blipFill>
        <p:spPr>
          <a:xfrm xmlns:a="http://schemas.openxmlformats.org/drawingml/2006/main">
            <a:off x="629294" y="1619250"/>
            <a:ext cx="6332838" cy="468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24297-3B0C-40EB-91AF-482A3284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7335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A7E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A7E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7E299-A68B-4A3E-8435-A52CC33B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0497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Карта и паспорт района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90564-9EF8-41E9-92D8-BB332ED4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3429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3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36B"/>
                </a:solidFill>
                <a:latin typeface="Arial"/>
                <a:ea typeface="Arial"/>
                <a:cs typeface="Arial"/>
              </a:rPr>
              <a:t>Исходные показатели и проблемные места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3E91C-91BB-415D-9317-13B6782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84797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A7E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A7E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CAD7C-20F1-4914-A9A5-3FCC478A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1940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Выбор пяти мер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02C55-5694-4C9D-8DDC-2FFEB65D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57550"/>
            <a:ext cx="3429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3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36B"/>
                </a:solidFill>
                <a:latin typeface="Arial"/>
                <a:ea typeface="Arial"/>
                <a:cs typeface="Arial"/>
              </a:rPr>
              <a:t>Район реализации и остаток бюджета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1B6D4-B547-4D72-B3CA-7965FEBF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9624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A7E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A7E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DFCB4-8965-4F1B-81F1-A70E91E0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3382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Расчёт последствий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8514F-75F8-4939-8101-101B3F6E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71975"/>
            <a:ext cx="3429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3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36B"/>
                </a:solidFill>
                <a:latin typeface="Arial"/>
                <a:ea typeface="Arial"/>
                <a:cs typeface="Arial"/>
              </a:rPr>
              <a:t>Изменения районов и общий 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C4DF1-DF5C-489B-BEFE-C7A0C7E1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0768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A7E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A7E3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6D857-ED20-4EE2-907A-C062C6C0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Сравнение A/B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0D3C39-82CB-4DFE-B403-18EA9B1C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86400"/>
            <a:ext cx="3429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3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36B"/>
                </a:solidFill>
                <a:latin typeface="Arial"/>
                <a:ea typeface="Arial"/>
                <a:cs typeface="Arial"/>
              </a:rPr>
              <a:t>Сохранение и восстановление A</a:t>
            </a:r>
          </a:p>
        </p:txBody>
      </p:sp>
    </p:spTree>
    <p:extLst>
      <p:ext uri="{BB962C8B-B14F-4D97-AF65-F5344CB8AC3E}">
        <p14:creationId xmlns:p14="http://schemas.microsoft.com/office/powerpoint/2010/main" val="4183798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E14ED-972F-46EE-97CA-88B457BF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183B36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183B36"/>
                </a:solidFill>
                <a:latin typeface="Georgia"/>
                <a:ea typeface="Georgia"/>
                <a:cs typeface="Georgia"/>
              </a:rPr>
              <a:t>Расчёт и роль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2D938-F13E-450F-8BF6-DBB2C460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94E4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4E42"/>
                </a:solidFill>
                <a:latin typeface="Arial"/>
                <a:ea typeface="Arial"/>
                <a:cs typeface="Arial"/>
              </a:rPr>
              <a:t>Python считает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F7F29-F319-4A10-8A5B-F6FAD291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953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B36"/>
                </a:solidFill>
                <a:latin typeface="Arial"/>
                <a:ea typeface="Arial"/>
                <a:cs typeface="Arial"/>
              </a:rPr>
              <a:t>Проверяет бюджет и совместимость</a:t>
            </a:r>
          </a:p>
          <a:p xmlns:a="http://schemas.openxmlformats.org/drawingml/2006/main">
            <a:pPr>
              <a:defRPr sz="2100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B36"/>
                </a:solidFill>
                <a:latin typeface="Arial"/>
                <a:ea typeface="Arial"/>
                <a:cs typeface="Arial"/>
              </a:rPr>
              <a:t>Учитывает лаги и синергии</a:t>
            </a:r>
          </a:p>
          <a:p xmlns:a="http://schemas.openxmlformats.org/drawingml/2006/main">
            <a:pPr>
              <a:defRPr sz="2100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B36"/>
                </a:solidFill>
                <a:latin typeface="Arial"/>
                <a:ea typeface="Arial"/>
                <a:cs typeface="Arial"/>
              </a:rPr>
              <a:t>Рассчитывает показатели и Score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FFC80-CDA0-4EA4-A3D1-1066FB93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02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94E4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4E42"/>
                </a:solidFill>
                <a:latin typeface="Arial"/>
                <a:ea typeface="Arial"/>
                <a:cs typeface="Arial"/>
              </a:rPr>
              <a:t>AI объясняет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9E771-DFA2-4D62-9029-EC31DAB7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05100"/>
            <a:ext cx="47625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B36"/>
                </a:solidFill>
                <a:latin typeface="Arial"/>
                <a:ea typeface="Arial"/>
                <a:cs typeface="Arial"/>
              </a:rPr>
              <a:t>Получает готовый расчёт</a:t>
            </a:r>
          </a:p>
          <a:p xmlns:a="http://schemas.openxmlformats.org/drawingml/2006/main">
            <a:pPr>
              <a:defRPr sz="2100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B36"/>
                </a:solidFill>
                <a:latin typeface="Arial"/>
                <a:ea typeface="Arial"/>
                <a:cs typeface="Arial"/>
              </a:rPr>
              <a:t>Описывает компромиссы и риски</a:t>
            </a:r>
          </a:p>
          <a:p xmlns:a="http://schemas.openxmlformats.org/drawingml/2006/main">
            <a:pPr>
              <a:defRPr sz="2100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B36"/>
                </a:solidFill>
                <a:latin typeface="Arial"/>
                <a:ea typeface="Arial"/>
                <a:cs typeface="Arial"/>
              </a:rPr>
              <a:t>Предлагает возможные реакции жителей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0106C-3BBD-4032-9E4D-B03C4390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Score = 0,7 × среднее + 0,3 × минимум − критические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04958-CD56-4D60-875A-AB3917AD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483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3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36B"/>
                </a:solidFill>
                <a:latin typeface="Arial"/>
                <a:ea typeface="Arial"/>
                <a:cs typeface="Arial"/>
              </a:rPr>
              <a:t>Среднее взвешено по населению. Критический показатель строго ниже 40.</a:t>
            </a:r>
          </a:p>
        </p:txBody>
      </p:sp>
    </p:spTree>
    <p:extLst>
      <p:ext uri="{BB962C8B-B14F-4D97-AF65-F5344CB8AC3E}">
        <p14:creationId xmlns:p14="http://schemas.microsoft.com/office/powerpoint/2010/main" val="344803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E01D3-574A-4BB1-BCBB-27AFCD49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183B36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183B36"/>
                </a:solidFill>
                <a:latin typeface="Georgia"/>
                <a:ea typeface="Georgia"/>
                <a:cs typeface="Georgia"/>
              </a:rPr>
              <a:t>Район меняет результат при том же бюджете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8AAFA-4CD6-4050-AEF0-5E460CE6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2736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2736B"/>
                </a:solidFill>
                <a:latin typeface="Arial"/>
                <a:ea typeface="Arial"/>
                <a:cs typeface="Arial"/>
              </a:rPr>
              <a:t>A: школа и детсад в Нуре. B: та же мера в Есиле.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66750" y="2400300"/>
          <a:ext xmlns:a="http://schemas.openxmlformats.org/drawingml/2006/main" cx="108204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057400"/>
                <a:gridCol w="2286000"/>
                <a:gridCol w="228600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EF9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solidFill>
                      <a:srgbClr val="194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EF9"/>
                          </a:solidFill>
                          <a:latin typeface="Arial"/>
                          <a:ea typeface="Arial"/>
                          <a:cs typeface="Arial"/>
                        </a:rPr>
                        <a:t>Исходно</a:t>
                      </a:r>
                    </a:p>
                  </a:txBody>
                  <a:tcPr marL="91440" marR="91440" marT="45720" marB="45720">
                    <a:solidFill>
                      <a:srgbClr val="194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EF9"/>
                          </a:solidFill>
                          <a:latin typeface="Arial"/>
                          <a:ea typeface="Arial"/>
                          <a:cs typeface="Arial"/>
                        </a:rPr>
                        <a:t>Сценарий A</a:t>
                      </a:r>
                    </a:p>
                  </a:txBody>
                  <a:tcPr marL="91440" marR="91440" marT="45720" marB="45720">
                    <a:solidFill>
                      <a:srgbClr val="194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EF9"/>
                          </a:solidFill>
                          <a:latin typeface="Arial"/>
                          <a:ea typeface="Arial"/>
                          <a:cs typeface="Arial"/>
                        </a:rPr>
                        <a:t>Сценарий B</a:t>
                      </a:r>
                    </a:p>
                  </a:txBody>
                  <a:tcPr marL="91440" marR="91440" marT="45720" marB="45720">
                    <a:solidFill>
                      <a:srgbClr val="194E4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83B36"/>
                          </a:solidFill>
                          <a:latin typeface="Arial"/>
                          <a:ea typeface="Arial"/>
                          <a:cs typeface="Arial"/>
                        </a:rPr>
                        <a:t>Расходы, усл. ед.</a:t>
                      </a:r>
                    </a:p>
                  </a:txBody>
                  <a:tcPr marL="91440" marR="91440" marT="45720" marB="45720">
                    <a:solidFill>
                      <a:srgbClr val="FFF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83B3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83B36"/>
                          </a:solidFill>
                          <a:latin typeface="Arial"/>
                          <a:ea typeface="Arial"/>
                          <a:cs typeface="Arial"/>
                        </a:rPr>
                        <a:t>95</a:t>
                      </a:r>
                    </a:p>
                  </a:txBody>
                  <a:tcPr marL="91440" marR="91440" marT="45720" marB="45720">
                    <a:solidFill>
                      <a:srgbClr val="FFF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83B36"/>
                          </a:solidFill>
                          <a:latin typeface="Arial"/>
                          <a:ea typeface="Arial"/>
                          <a:cs typeface="Arial"/>
                        </a:rPr>
                        <a:t>95</a:t>
                      </a:r>
                    </a:p>
                  </a:txBody>
                  <a:tcPr marL="91440" marR="91440" marT="45720" marB="45720">
                    <a:solidFill>
                      <a:srgbClr val="FFFE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83B36"/>
                          </a:solidFill>
                          <a:latin typeface="Arial"/>
                          <a:ea typeface="Arial"/>
                          <a:cs typeface="Arial"/>
                        </a:rPr>
                        <a:t>Score</a:t>
                      </a:r>
                    </a:p>
                  </a:txBody>
                  <a:tcPr marL="91440" marR="91440" marT="45720" marB="45720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83B36"/>
                          </a:solidFill>
                          <a:latin typeface="Arial"/>
                          <a:ea typeface="Arial"/>
                          <a:cs typeface="Arial"/>
                        </a:rPr>
                        <a:t>52,55768</a:t>
                      </a:r>
                    </a:p>
                  </a:txBody>
                  <a:tcPr marL="91440" marR="91440" marT="45720" marB="45720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83B36"/>
                          </a:solidFill>
                          <a:latin typeface="Arial"/>
                          <a:ea typeface="Arial"/>
                          <a:cs typeface="Arial"/>
                        </a:rPr>
                        <a:t>56,54307</a:t>
                      </a:r>
                    </a:p>
                  </a:txBody>
                  <a:tcPr marL="91440" marR="91440" marT="45720" marB="45720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83B36"/>
                          </a:solidFill>
                          <a:latin typeface="Arial"/>
                          <a:ea typeface="Arial"/>
                          <a:cs typeface="Arial"/>
                        </a:rPr>
                        <a:t>55,29777</a:t>
                      </a:r>
                    </a:p>
                  </a:txBody>
                  <a:tcPr marL="91440" marR="91440" marT="45720" marB="45720">
                    <a:solidFill>
                      <a:srgbClr val="E7EDD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83B36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Показателей ниже 40</a:t>
                      </a:r>
                    </a:p>
                  </a:txBody>
                  <a:tcPr marL="91440" marR="91440" marT="45720" marB="45720">
                    <a:solidFill>
                      <a:srgbClr val="FFF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83B3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83B3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83B36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E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117C0-C863-4195-893A-44144F59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57825"/>
            <a:ext cx="10810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94E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4E42"/>
                </a:solidFill>
                <a:latin typeface="Arial"/>
                <a:ea typeface="Arial"/>
                <a:cs typeface="Arial"/>
              </a:rPr>
              <a:t>A выше B на 1,24530 балла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7B2A2-5E4F-4F56-B9C9-2D964682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81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7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736B"/>
                </a:solidFill>
                <a:latin typeface="Arial"/>
                <a:ea typeface="Arial"/>
                <a:cs typeface="Arial"/>
              </a:rPr>
              <a:t>Остальные меры одинаковы: M8 и M10 в Нуре, M12 по городу, M5 в Сарыарке.</a:t>
            </a:r>
          </a:p>
        </p:txBody>
      </p:sp>
    </p:spTree>
    <p:extLst>
      <p:ext uri="{BB962C8B-B14F-4D97-AF65-F5344CB8AC3E}">
        <p14:creationId xmlns:p14="http://schemas.microsoft.com/office/powerpoint/2010/main" val="5785920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0A6D0-A517-4191-B3D9-77D2ADD5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183B36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183B36"/>
                </a:solidFill>
                <a:latin typeface="Georgia"/>
                <a:ea typeface="Georgia"/>
                <a:cs typeface="Georgia"/>
              </a:rPr>
              <a:t>Работающий прототип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1FE12-97FF-4D59-84DF-1CCF4429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0" b="1">
                <a:solidFill>
                  <a:srgbClr val="194E42"/>
                </a:solidFill>
                <a:latin typeface="Arial"/>
                <a:ea typeface="Arial"/>
                <a:cs typeface="Arial"/>
              </a:defRPr>
            </a:pPr>
            <a:r>
              <a:rPr sz="9750" b="1">
                <a:solidFill>
                  <a:srgbClr val="194E42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FD010-95F7-4EA5-9941-F08E555F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2736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2736B"/>
                </a:solidFill>
                <a:latin typeface="Arial"/>
                <a:ea typeface="Arial"/>
                <a:cs typeface="Arial"/>
              </a:rPr>
              <a:t>автоматических тестов</a:t>
            </a:r>
          </a:p>
          <a:p xmlns:a="http://schemas.openxmlformats.org/drawingml/2006/main">
            <a:pPr>
              <a:defRPr sz="2175" b="0">
                <a:solidFill>
                  <a:srgbClr val="62736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2736B"/>
                </a:solidFill>
                <a:latin typeface="Arial"/>
                <a:ea typeface="Arial"/>
                <a:cs typeface="Arial"/>
              </a:rPr>
              <a:t>проходят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6E533-1144-4C4B-BCC0-0CD4E6DF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240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Локальная числовая модель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C9211-F107-4AFE-A544-73355CF6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66975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736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736B"/>
                </a:solidFill>
                <a:latin typeface="Arial"/>
                <a:ea typeface="Arial"/>
                <a:cs typeface="Arial"/>
              </a:rPr>
              <a:t>Python 3.10+, стандартная библиотека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FC1F7-C829-43E9-A9DD-45440E67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86150"/>
            <a:ext cx="619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Настоящий AI-запрос проверен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59167-FE57-4EDE-BF49-57216112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029075"/>
            <a:ext cx="6191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736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736B"/>
                </a:solidFill>
                <a:latin typeface="Arial"/>
                <a:ea typeface="Arial"/>
                <a:cs typeface="Arial"/>
              </a:rPr>
              <a:t>OpenAI API, проверка 23 сентября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57EF6-0514-4BEA-8038-C84FA5B5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B36"/>
                </a:solidFill>
                <a:latin typeface="Arial"/>
                <a:ea typeface="Arial"/>
                <a:cs typeface="Arial"/>
              </a:rPr>
              <a:t>Сравнение A/B, AI-разбор и скачивание отчёта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BB7D9-DE46-4124-AFE9-83272FB8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3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736B"/>
                </a:solidFill>
                <a:latin typeface="Arial"/>
                <a:ea typeface="Arial"/>
                <a:cs typeface="Arial"/>
              </a:rPr>
              <a:t>Код, интерфейс и материалы разработаны с существенной помощью OpenAI Codex.</a:t>
            </a:r>
          </a:p>
        </p:txBody>
      </p:sp>
    </p:spTree>
    <p:extLst>
      <p:ext uri="{BB962C8B-B14F-4D97-AF65-F5344CB8AC3E}">
        <p14:creationId xmlns:p14="http://schemas.microsoft.com/office/powerpoint/2010/main" val="4521513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4B0B2-2D1D-4F17-9E17-35998589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183B36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183B36"/>
                </a:solidFill>
                <a:latin typeface="Georgia"/>
                <a:ea typeface="Georgia"/>
                <a:cs typeface="Georgia"/>
              </a:rPr>
              <a:t>Демонстрация и пределы модели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AD75A-2FD6-42B6-AFF5-4925DB1E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94E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4E42"/>
                </a:solidFill>
                <a:latin typeface="Arial"/>
                <a:ea typeface="Arial"/>
                <a:cs typeface="Arial"/>
              </a:rPr>
              <a:t>Демо: пример организаторов и сравнение A/B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254C1-2BCC-4C97-BC3E-AF1C50D3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B36"/>
                </a:solidFill>
                <a:latin typeface="Arial"/>
                <a:ea typeface="Arial"/>
                <a:cs typeface="Arial"/>
              </a:rPr>
              <a:t>Смена района для одной меры показывает,</a:t>
            </a:r>
          </a:p>
          <a:p xmlns:a="http://schemas.openxmlformats.org/drawingml/2006/main">
            <a:pPr>
              <a:defRPr sz="2550" b="0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B36"/>
                </a:solidFill>
                <a:latin typeface="Arial"/>
                <a:ea typeface="Arial"/>
                <a:cs typeface="Arial"/>
              </a:rPr>
              <a:t>как выбор влияет на город и слабейший район.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50DDB-EE07-4963-9952-850C3EF2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00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3B36"/>
                </a:solidFill>
                <a:latin typeface="Arial"/>
                <a:ea typeface="Arial"/>
                <a:cs typeface="Arial"/>
              </a:rPr>
              <a:t>Пределы модели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1DA4E-665F-4BD0-906B-AF5CBDCB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076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73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736B"/>
                </a:solidFill>
                <a:latin typeface="Arial"/>
                <a:ea typeface="Arial"/>
                <a:cs typeface="Arial"/>
              </a:rPr>
              <a:t>Синтетические данные. Реальный прогноз требует калибровки.</a:t>
            </a:r>
          </a:p>
          <a:p xmlns:a="http://schemas.openxmlformats.org/drawingml/2006/main">
            <a:pPr>
              <a:defRPr sz="1875" b="0">
                <a:solidFill>
                  <a:srgbClr val="6273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736B"/>
                </a:solidFill>
                <a:latin typeface="Arial"/>
                <a:ea typeface="Arial"/>
                <a:cs typeface="Arial"/>
              </a:rPr>
              <a:t>Поиск оптимума и случайные события пока не реализованы.</a:t>
            </a:r>
          </a:p>
          <a:p xmlns:a="http://schemas.openxmlformats.org/drawingml/2006/main">
            <a:pPr>
              <a:defRPr sz="1875" b="0">
                <a:solidFill>
                  <a:srgbClr val="6273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736B"/>
                </a:solidFill>
                <a:latin typeface="Arial"/>
                <a:ea typeface="Arial"/>
                <a:cs typeface="Arial"/>
              </a:rPr>
              <a:t>AI требует сети. Сервер предназначен для локальной демонстрации.</a:t>
            </a:r>
          </a:p>
        </p:txBody>
      </p:sp>
    </p:spTree>
    <p:extLst>
      <p:ext uri="{BB962C8B-B14F-4D97-AF65-F5344CB8AC3E}">
        <p14:creationId xmlns:p14="http://schemas.microsoft.com/office/powerpoint/2010/main" val="3443333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2026-09-23T12:48:31.0310000Z</dcterms:created>
  <dcterms:modified xsi:type="dcterms:W3CDTF">2026-09-23T12:48:31.0310000Z</dcterms:modified>
</coreProperties>
</file>