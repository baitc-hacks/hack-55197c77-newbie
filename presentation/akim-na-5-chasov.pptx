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3ea71f623b4bb8" /><Relationship Type="http://schemas.openxmlformats.org/officeDocument/2006/relationships/extended-properties" Target="/docProps/app.xml" Id="R278a7faad10a4a6b" /><Relationship Type="http://schemas.openxmlformats.org/officeDocument/2006/relationships/officeDocument" Target="/ppt/presentation.xml" Id="R8fcb6f729c5f4c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991a6a88e34923"/>
  </p:sldMasterIdLst>
  <p:notesMasterIdLst>
    <p:notesMasterId xmlns:r="http://schemas.openxmlformats.org/officeDocument/2006/relationships" r:id="R585f47fbd8694da6"/>
  </p:notesMasterIdLst>
  <p:sldIdLst>
    <p:sldId xmlns:r="http://schemas.openxmlformats.org/officeDocument/2006/relationships" id="256" r:id="R5d2228c85fdc4f63"/>
    <p:sldId xmlns:r="http://schemas.openxmlformats.org/officeDocument/2006/relationships" id="257" r:id="R25c95d213e47432c"/>
    <p:sldId xmlns:r="http://schemas.openxmlformats.org/officeDocument/2006/relationships" id="258" r:id="Reb3be86c04c04ed0"/>
    <p:sldId xmlns:r="http://schemas.openxmlformats.org/officeDocument/2006/relationships" id="259" r:id="R233260238dea4f52"/>
    <p:sldId xmlns:r="http://schemas.openxmlformats.org/officeDocument/2006/relationships" id="260" r:id="Rbbca287896f04548"/>
    <p:sldId xmlns:r="http://schemas.openxmlformats.org/officeDocument/2006/relationships" id="261" r:id="R76e3a99412dd4629"/>
    <p:sldId xmlns:r="http://schemas.openxmlformats.org/officeDocument/2006/relationships" id="262" r:id="Rd7e089d4ae444a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d81f35775744cd" /><Relationship Type="http://schemas.openxmlformats.org/officeDocument/2006/relationships/slideMaster" Target="/ppt/slideMasters/slideMaster1.xml" Id="R92991a6a88e34923" /><Relationship Type="http://schemas.openxmlformats.org/officeDocument/2006/relationships/notesMaster" Target="/ppt/notesMasters/notesMaster1.xml" Id="R585f47fbd8694da6" /><Relationship Type="http://schemas.openxmlformats.org/officeDocument/2006/relationships/presProps" Target="/ppt/presProps.xml" Id="R1f0e1c4c97e2436d" /><Relationship Type="http://schemas.openxmlformats.org/officeDocument/2006/relationships/tableStyles" Target="/ppt/tableStyles.xml" Id="Rf45c20136d2346e1" /><Relationship Type="http://schemas.openxmlformats.org/officeDocument/2006/relationships/slide" Target="/ppt/slides/slide1.xml" Id="R5d2228c85fdc4f63" /><Relationship Type="http://schemas.openxmlformats.org/officeDocument/2006/relationships/slide" Target="/ppt/slides/slide2.xml" Id="R25c95d213e47432c" /><Relationship Type="http://schemas.openxmlformats.org/officeDocument/2006/relationships/slide" Target="/ppt/slides/slide3.xml" Id="Reb3be86c04c04ed0" /><Relationship Type="http://schemas.openxmlformats.org/officeDocument/2006/relationships/slide" Target="/ppt/slides/slide4.xml" Id="R233260238dea4f52" /><Relationship Type="http://schemas.openxmlformats.org/officeDocument/2006/relationships/slide" Target="/ppt/slides/slide5.xml" Id="Rbbca287896f04548" /><Relationship Type="http://schemas.openxmlformats.org/officeDocument/2006/relationships/slide" Target="/ppt/slides/slide6.xml" Id="R76e3a99412dd4629" /><Relationship Type="http://schemas.openxmlformats.org/officeDocument/2006/relationships/slide" Target="/ppt/slides/slide7.xml" Id="Rd7e089d4ae444a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3516e2ebe14e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c72d2fd7064ef9" /><Relationship Type="http://schemas.openxmlformats.org/officeDocument/2006/relationships/notesMaster" Target="/ppt/notesMasters/notesMaster1.xml" Id="R0bdae85ea4fe49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363995f4d9432b" /><Relationship Type="http://schemas.openxmlformats.org/officeDocument/2006/relationships/notesMaster" Target="/ppt/notesMasters/notesMaster1.xml" Id="Rf5d10ce552664d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8e04b4c7224b1a" /><Relationship Type="http://schemas.openxmlformats.org/officeDocument/2006/relationships/notesMaster" Target="/ppt/notesMasters/notesMaster1.xml" Id="Rfa76ae03e8a548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dc18be5ab742b3" /><Relationship Type="http://schemas.openxmlformats.org/officeDocument/2006/relationships/notesMaster" Target="/ppt/notesMasters/notesMaster1.xml" Id="R8d434309e3c840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c4ee4e9e854ea4" /><Relationship Type="http://schemas.openxmlformats.org/officeDocument/2006/relationships/notesMaster" Target="/ppt/notesMasters/notesMaster1.xml" Id="Ra5839be25fb240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1198bd60184589" /><Relationship Type="http://schemas.openxmlformats.org/officeDocument/2006/relationships/notesMaster" Target="/ppt/notesMasters/notesMaster1.xml" Id="R4d19ac8122f744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8555b510394529" /><Relationship Type="http://schemas.openxmlformats.org/officeDocument/2006/relationships/notesMaster" Target="/ppt/notesMasters/notesMaster1.xml" Id="R20ca4b6d52ba44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 секунд. «Аким на 5 часов» помогает сравнить последствия пяти городских решений при ограниченном бюджете. Это учебный симулятор на синтетических данных.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ТЗ: https://docs.google.com/document/d/1oDZtYnBgbcn_Ii7vleP87hkARJ2HmbXl7Cw_rsCxqpo/edit</a:t>
            </a:r>
          </a:p>
          <a:p xmlns:a="http://schemas.openxmlformats.org/drawingml/2006/main">
            <a:r>
              <a:t>Датасет: https://docs.google.com/document/d/1Uc-GdGoKhDY-spu8V50-ZMm33t2CjYLP/edit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 секунд. Пять районов с разными исходными показателями. Из четырнадцати мер выбираем ровно пять. Бюджет сто условных единиц, не более двух мер одного направления. Горизонт восемь кварталов. Данные синтетические.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ТЗ: https://docs.google.com/document/d/1oDZtYnBgbcn_Ii7vleP87hkARJ2HmbXl7Cw_rsCxqpo/edit</a:t>
            </a:r>
          </a:p>
          <a:p xmlns:a="http://schemas.openxmlformats.org/drawingml/2006/main">
            <a:r>
              <a:t>Датасет: https://docs.google.com/document/d/1Uc-GdGoKhDY-spu8V50-ZMm33t2CjYLP/edit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секунд. Карта и паспорт района показывают исходные показатели. Затем выбираем меры и район реализации, видим остаток бюджета. После расчёта сравниваем изменения. В браузере сохраняется вариант A, текущий B используется для сравнения. Карта взята из приложения, контуры обобщены. Географический ориентир: https://www.gov.kz/memleket/entities/astana-nura/press/news/details/560659?lang=ru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ТЗ: https://docs.google.com/document/d/1oDZtYnBgbcn_Ii7vleP87hkARJ2HmbXl7Cw_rsCxqpo/edit</a:t>
            </a:r>
          </a:p>
          <a:p xmlns:a="http://schemas.openxmlformats.org/drawingml/2006/main">
            <a:r>
              <a:t>Датасет: https://docs.google.com/document/d/1Uc-GdGoKhDY-spu8V50-ZMm33t2CjYLP/edit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секунд. Python проверяет ограничения и вычисляет числа из JSON: восемь кварталов, лаги, синергии и порог критичности ниже сорока. По отдельной кнопке настоящий запрос в OpenAI объясняет готовый результат. AI не создаёт числа и не изменяет Score. Для AI нужны сеть и конфигурация команды. Источники: simulator.py, ai_analysis.py, README.md.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ТЗ: https://docs.google.com/document/d/1oDZtYnBgbcn_Ii7vleP87hkARJ2HmbXl7Cw_rsCxqpo/edit</a:t>
            </a:r>
          </a:p>
          <a:p xmlns:a="http://schemas.openxmlformats.org/drawingml/2006/main">
            <a:r>
              <a:t>Датасет: https://docs.google.com/document/d/1Uc-GdGoKhDY-spu8V50-ZMm33t2CjYLP/edit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25 секунд. A повторяет пример организаторов: M7, M8 и M10 в Нуре, M12 по городу, M5 в Сарыарке. В B только M7 переносим в Есиль. Расходы одинаковы, 95. Точный Score A 56,54307, B 55,29777. Разница минус 1,24530. В A ноль критических показателей, в B один. В B относительно A Есиль получает +1,10 к оценке, Нура −1,10. Это конкретное сравнение, глобальный оптимум не заявляем.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ТЗ: https://docs.google.com/document/d/1oDZtYnBgbcn_Ii7vleP87hkARJ2HmbXl7Cw_rsCxqpo/edit</a:t>
            </a:r>
          </a:p>
          <a:p xmlns:a="http://schemas.openxmlformats.org/drawingml/2006/main">
            <a:r>
              <a:t>Датасет: https://docs.google.com/document/d/1Uc-GdGoKhDY-spu8V50-ZMm33t2CjYLP/edit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 секунд. Числовая модель работает локально на стандартной библиотеке Python. 28 автоматических тестов проходят. Настоящий OpenAI запрос отдельно проверен 23 сентября. Есть сохранение A, сравнение с текущим B и скачивание отчёта с полученным AI-анализом. Разработка выполнена с существенной помощью OpenAI Codex. Источники: README.md, tests/, docs/THIRD_PARTY.md.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ТЗ: https://docs.google.com/document/d/1oDZtYnBgbcn_Ii7vleP87hkARJ2HmbXl7Cw_rsCxqpo/edit</a:t>
            </a:r>
          </a:p>
          <a:p xmlns:a="http://schemas.openxmlformats.org/drawingml/2006/main">
            <a:r>
              <a:t>Датасет: https://docs.google.com/document/d/1Uc-GdGoKhDY-spu8V50-ZMm33t2CjYLP/edit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 секунд. Демо: загрузить пример, рассчитать и сохранить A. Перенести M7 в Есиль, рассчитать текущий B и сравнить с A. Получить AI-анализ и скачать отчёт. Данные синтетические, реальная модель требует калибровки. Нет глобального поиска оптимума и случайных событий. Сервер локальный. Следующие шаги: подтвердить трактовку направлений у организаторов и проверить модель с экспертами.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ТЗ: https://docs.google.com/document/d/1oDZtYnBgbcn_Ii7vleP87hkARJ2HmbXl7Cw_rsCxqpo/edit</a:t>
            </a:r>
          </a:p>
          <a:p xmlns:a="http://schemas.openxmlformats.org/drawingml/2006/main">
            <a:r>
              <a:t>Датасет: https://docs.google.com/document/d/1Uc-GdGoKhDY-spu8V50-ZMm33t2CjYLP/edit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2efd6c6aeb4b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253716e1944223" /><Relationship Type="http://schemas.openxmlformats.org/officeDocument/2006/relationships/slideLayout" Target="/ppt/slideLayouts/slideLayout1.xml" Id="Rceb72a21239345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b72a21239345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4ecd9e5a0b421f" /><Relationship Type="http://schemas.openxmlformats.org/officeDocument/2006/relationships/image" Target="/ppt/media/image.png" Id="R5e3842e539fd49c9" /><Relationship Type="http://schemas.openxmlformats.org/officeDocument/2006/relationships/notesSlide" Target="/ppt/notesSlides/notesSlide1.xml" Id="Ra441599dc3a844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67998df3d4ad2" /><Relationship Type="http://schemas.openxmlformats.org/officeDocument/2006/relationships/notesSlide" Target="/ppt/notesSlides/notesSlide2.xml" Id="Reac6595da2674b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9ba6dce064566" /><Relationship Type="http://schemas.openxmlformats.org/officeDocument/2006/relationships/image" Target="/ppt/media/image2.png" Id="Rc5d76246d3ae4bf3" /><Relationship Type="http://schemas.openxmlformats.org/officeDocument/2006/relationships/notesSlide" Target="/ppt/notesSlides/notesSlide3.xml" Id="R7f5a18b3575342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57c2be3b104cbb" /><Relationship Type="http://schemas.openxmlformats.org/officeDocument/2006/relationships/notesSlide" Target="/ppt/notesSlides/notesSlide4.xml" Id="Raf7980e7e21144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49aaa6e8d410d" /><Relationship Type="http://schemas.openxmlformats.org/officeDocument/2006/relationships/notesSlide" Target="/ppt/notesSlides/notesSlide5.xml" Id="Rde919f13e30746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f0e2a9aa542de" /><Relationship Type="http://schemas.openxmlformats.org/officeDocument/2006/relationships/notesSlide" Target="/ppt/notesSlides/notesSlide6.xml" Id="Rc01785da31af49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f59f9aa004d51" /><Relationship Type="http://schemas.openxmlformats.org/officeDocument/2006/relationships/notesSlide" Target="/ppt/notesSlides/notesSlide7.xml" Id="R38fe27f616a043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4E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3842e539fd49c9"/>
          <a:stretch xmlns:a="http://schemas.openxmlformats.org/drawingml/2006/main"/>
        </p:blipFill>
        <p:spPr>
          <a:xfrm xmlns:a="http://schemas.openxmlformats.org/drawingml/2006/main">
            <a:off x="685800" y="533400"/>
            <a:ext cx="857250" cy="8572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5020D-03AC-410C-93BF-51F70C41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E8C77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8C77C"/>
                </a:solidFill>
                <a:latin typeface="Arial"/>
                <a:ea typeface="Arial"/>
                <a:cs typeface="Arial"/>
              </a:rPr>
              <a:t>ЛАБОРАТОРИЯ ГОРОДСКИХ РЕШЕНИЙ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FFF6F-D634-4D54-8FE2-5343F215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28900"/>
            <a:ext cx="10668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200" b="0">
                <a:solidFill>
                  <a:srgbClr val="F5F2E8"/>
                </a:solidFill>
                <a:latin typeface="Georgia"/>
                <a:ea typeface="Georgia"/>
                <a:cs typeface="Georgia"/>
              </a:defRPr>
            </a:pPr>
            <a:r>
              <a:rPr sz="7200" b="0">
                <a:solidFill>
                  <a:srgbClr val="F5F2E8"/>
                </a:solidFill>
                <a:latin typeface="Georgia"/>
                <a:ea typeface="Georgia"/>
                <a:cs typeface="Georgia"/>
              </a:rPr>
              <a:t>Аким на</a:t>
            </a:r>
          </a:p>
          <a:p xmlns:a="http://schemas.openxmlformats.org/drawingml/2006/main">
            <a:pPr>
              <a:defRPr sz="7200" b="0">
                <a:solidFill>
                  <a:srgbClr val="F5F2E8"/>
                </a:solidFill>
                <a:latin typeface="Georgia"/>
                <a:ea typeface="Georgia"/>
                <a:cs typeface="Georgia"/>
              </a:defRPr>
            </a:pPr>
            <a:r>
              <a:rPr sz="7200" b="0">
                <a:solidFill>
                  <a:srgbClr val="F5F2E8"/>
                </a:solidFill>
                <a:latin typeface="Georgia"/>
                <a:ea typeface="Georgia"/>
                <a:cs typeface="Georgia"/>
              </a:rPr>
              <a:t>5 часов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4F0208-B6D5-4FE1-ABAE-E87464F9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Пять решений сегодня.</a:t>
            </a:r>
          </a:p>
          <a:p xmlns:a="http://schemas.openxmlformats.org/drawingml/2006/main">
            <a:pPr>
              <a:defRPr sz="2475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Последствия через два года.</a:t>
            </a:r>
          </a:p>
        </p:txBody>
      </p:sp>
    </p:spTree>
    <p:extLst>
      <p:ext uri="{BB962C8B-B14F-4D97-AF65-F5344CB8AC3E}">
        <p14:creationId xmlns:p14="http://schemas.microsoft.com/office/powerpoint/2010/main" val="11577018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16233D-470B-4145-8E39-06E53B68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"/>
            <a:ext cx="10934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0">
                <a:solidFill>
                  <a:srgbClr val="183B36"/>
                </a:solidFill>
                <a:latin typeface="Georgia"/>
                <a:ea typeface="Georgia"/>
                <a:cs typeface="Georgia"/>
              </a:defRPr>
            </a:pPr>
            <a:r>
              <a:rPr sz="3375" b="0">
                <a:solidFill>
                  <a:srgbClr val="183B36"/>
                </a:solidFill>
                <a:latin typeface="Georgia"/>
                <a:ea typeface="Georgia"/>
                <a:cs typeface="Georgia"/>
              </a:rPr>
              <a:t>Один бюджет, пять районов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FC627-D09C-40E9-8B8E-84E40277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666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Потребности районов различаются.</a:t>
            </a:r>
          </a:p>
          <a:p xmlns:a="http://schemas.openxmlformats.org/drawingml/2006/main">
            <a:pPr>
              <a:defRPr sz="270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Ресурсы города ограничены.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7307FA-E27D-4F0E-B941-8F315B9F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828800"/>
            <a:ext cx="38100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650" b="1">
                <a:solidFill>
                  <a:srgbClr val="194E42"/>
                </a:solidFill>
                <a:latin typeface="Arial"/>
                <a:ea typeface="Arial"/>
                <a:cs typeface="Arial"/>
              </a:defRPr>
            </a:pPr>
            <a:r>
              <a:rPr sz="10650" b="1">
                <a:solidFill>
                  <a:srgbClr val="194E42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83779-D0CA-4602-8A04-B03175EC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957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условных единиц бюджета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379DA-010E-4892-B27B-20E42294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67100"/>
            <a:ext cx="2190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194E42"/>
                </a:solidFill>
                <a:latin typeface="Arial"/>
                <a:ea typeface="Arial"/>
                <a:cs typeface="Arial"/>
              </a:defRPr>
            </a:pPr>
            <a:r>
              <a:rPr sz="6600" b="1">
                <a:solidFill>
                  <a:srgbClr val="194E42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874F7-0618-46C8-A2AB-000EB6AC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10100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районов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ED237-1D61-4AA8-9CC7-AA340B3D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467100"/>
            <a:ext cx="2190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194E42"/>
                </a:solidFill>
                <a:latin typeface="Arial"/>
                <a:ea typeface="Arial"/>
                <a:cs typeface="Arial"/>
              </a:defRPr>
            </a:pPr>
            <a:r>
              <a:rPr sz="6600" b="1">
                <a:solidFill>
                  <a:srgbClr val="194E42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FDD815-09F3-4C4B-A4FC-12A5E982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доступных мер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15E21-E985-478F-9D23-9ECC73A5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67100"/>
            <a:ext cx="17145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194E42"/>
                </a:solidFill>
                <a:latin typeface="Arial"/>
                <a:ea typeface="Arial"/>
                <a:cs typeface="Arial"/>
              </a:defRPr>
            </a:pPr>
            <a:r>
              <a:rPr sz="6600" b="1">
                <a:solidFill>
                  <a:srgbClr val="194E42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0557D-25D6-4546-9F48-6040EDDA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6101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года расчёта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02A05-BEED-45E4-B16A-9AF90CEF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1085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B3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B36"/>
                </a:solidFill>
                <a:latin typeface="Arial"/>
                <a:ea typeface="Arial"/>
                <a:cs typeface="Arial"/>
              </a:rPr>
              <a:t>Ровно 5 мер. Не более 2 из одного направления.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3A6DC2-D27D-4618-B17B-99BC01F0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Учебная модель на синтетических данных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236174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1F687-9D0E-453B-A241-20D09AEE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"/>
            <a:ext cx="10934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0">
                <a:solidFill>
                  <a:srgbClr val="183B36"/>
                </a:solidFill>
                <a:latin typeface="Georgia"/>
                <a:ea typeface="Georgia"/>
                <a:cs typeface="Georgia"/>
              </a:defRPr>
            </a:pPr>
            <a:r>
              <a:rPr sz="3375" b="0">
                <a:solidFill>
                  <a:srgbClr val="183B36"/>
                </a:solidFill>
                <a:latin typeface="Georgia"/>
                <a:ea typeface="Georgia"/>
                <a:cs typeface="Georgia"/>
              </a:rPr>
              <a:t>Карта потребностей города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d76246d3ae4bf3"/>
          <a:stretch xmlns:a="http://schemas.openxmlformats.org/drawingml/2006/main"/>
        </p:blipFill>
        <p:spPr>
          <a:xfrm xmlns:a="http://schemas.openxmlformats.org/drawingml/2006/main">
            <a:off x="4210822" y="1362075"/>
            <a:ext cx="7504155" cy="55530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AEF43-3AAC-4CE1-9CFC-981C16EF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80975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A7E3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A7E3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5E8E41-0A7D-4C4D-837C-E2F19654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2288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B3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B36"/>
                </a:solidFill>
                <a:latin typeface="Arial"/>
                <a:ea typeface="Arial"/>
                <a:cs typeface="Arial"/>
              </a:rPr>
              <a:t>Изучить район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0B54B-39ED-45FD-88F5-E9C283A6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828925"/>
            <a:ext cx="314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Карта и паспорт</a:t>
            </a:r>
          </a:p>
          <a:p xmlns:a="http://schemas.openxmlformats.org/drawingml/2006/main">
            <a:pPr>
              <a:defRPr sz="195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показывают потребности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259D2A-7B6B-47BD-B616-7BAB788B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52875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A7E3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A7E3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AA3D9-AAE1-4DBB-9B9A-4B348903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71975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B3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B36"/>
                </a:solidFill>
                <a:latin typeface="Arial"/>
                <a:ea typeface="Arial"/>
                <a:cs typeface="Arial"/>
              </a:rPr>
              <a:t>Выбрать меры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AC96A-900E-4C20-95C7-35F94EF4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972050"/>
            <a:ext cx="314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Бюджет виден</a:t>
            </a:r>
          </a:p>
          <a:p xmlns:a="http://schemas.openxmlformats.org/drawingml/2006/main">
            <a:pPr>
              <a:defRPr sz="195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во время выбора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86BD2-6609-4214-9918-8A29C1A9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162675"/>
            <a:ext cx="361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94E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94E42"/>
                </a:solidFill>
                <a:latin typeface="Arial"/>
                <a:ea typeface="Arial"/>
                <a:cs typeface="Arial"/>
              </a:rPr>
              <a:t>Расчёт и сравнение A/B</a:t>
            </a:r>
          </a:p>
        </p:txBody>
      </p:sp>
    </p:spTree>
    <p:extLst>
      <p:ext uri="{BB962C8B-B14F-4D97-AF65-F5344CB8AC3E}">
        <p14:creationId xmlns:p14="http://schemas.microsoft.com/office/powerpoint/2010/main" val="14405638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94E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5CCC9E-9129-4C1E-ACDC-320BCA24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5F2E8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F5F2E8"/>
                </a:solidFill>
                <a:latin typeface="Georgia"/>
                <a:ea typeface="Georgia"/>
                <a:cs typeface="Georgia"/>
              </a:rPr>
              <a:t>Python считает. AI объясняет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7B258-5F80-441F-9F81-DC79CD33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43125"/>
            <a:ext cx="485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5F2E8"/>
                </a:solidFill>
                <a:latin typeface="Arial"/>
                <a:ea typeface="Arial"/>
                <a:cs typeface="Arial"/>
              </a:rPr>
              <a:t>Python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E96A2-C944-4AA5-B044-8F41A06D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295650"/>
            <a:ext cx="4953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Проверяет правила</a:t>
            </a:r>
          </a:p>
          <a:p xmlns:a="http://schemas.openxmlformats.org/drawingml/2006/main">
            <a:pPr>
              <a:defRPr sz="2175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Рассчитывает показатели</a:t>
            </a:r>
          </a:p>
          <a:p xmlns:a="http://schemas.openxmlformats.org/drawingml/2006/main">
            <a:pPr>
              <a:defRPr sz="2175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Учитывает лаги и синергии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23EE5D-1C08-4019-B1C8-8126848F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143125"/>
            <a:ext cx="4667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E8C77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E8C77C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AFED3-7A2D-4CDA-A132-7EC60CC2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295650"/>
            <a:ext cx="4857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Объясняет готовый расчёт</a:t>
            </a:r>
          </a:p>
          <a:p xmlns:a="http://schemas.openxmlformats.org/drawingml/2006/main">
            <a:pPr>
              <a:defRPr sz="2175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Описывает риски</a:t>
            </a:r>
          </a:p>
          <a:p xmlns:a="http://schemas.openxmlformats.org/drawingml/2006/main">
            <a:pPr>
              <a:defRPr sz="2175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Обсуждает реакции жителей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A018F-C030-40C0-BEBE-238B8B51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5F2E8"/>
                </a:solidFill>
                <a:latin typeface="Arial"/>
                <a:ea typeface="Arial"/>
                <a:cs typeface="Arial"/>
              </a:rPr>
              <a:t>Score = 0,7 × среднее + 0,3 × минимум − критические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DED42B-63C6-4EA3-A798-98D2AB81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1722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ED2A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ED2AE"/>
                </a:solidFill>
                <a:latin typeface="Arial"/>
                <a:ea typeface="Arial"/>
                <a:cs typeface="Arial"/>
              </a:rPr>
              <a:t>Среднее взвешено по населению. Критический показатель строго ниже 40.</a:t>
            </a:r>
          </a:p>
        </p:txBody>
      </p:sp>
    </p:spTree>
    <p:extLst>
      <p:ext uri="{BB962C8B-B14F-4D97-AF65-F5344CB8AC3E}">
        <p14:creationId xmlns:p14="http://schemas.microsoft.com/office/powerpoint/2010/main" val="17406026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C32D48-9D36-44D3-AADA-11084730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"/>
            <a:ext cx="10934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0">
                <a:solidFill>
                  <a:srgbClr val="183B36"/>
                </a:solidFill>
                <a:latin typeface="Georgia"/>
                <a:ea typeface="Georgia"/>
                <a:cs typeface="Georgia"/>
              </a:defRPr>
            </a:pPr>
            <a:r>
              <a:rPr sz="3375" b="0">
                <a:solidFill>
                  <a:srgbClr val="183B36"/>
                </a:solidFill>
                <a:latin typeface="Georgia"/>
                <a:ea typeface="Georgia"/>
                <a:cs typeface="Georgia"/>
              </a:rPr>
              <a:t>Один перенос — минус 1,25 балла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BD229-32BC-45CA-898F-CD666641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76400"/>
            <a:ext cx="4381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2736B"/>
                </a:solidFill>
                <a:latin typeface="Arial"/>
                <a:ea typeface="Arial"/>
                <a:cs typeface="Arial"/>
              </a:rPr>
              <a:t>СЦЕНАРИЙ 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25E088-4E55-490A-A314-F66E6BEF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676400"/>
            <a:ext cx="4381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2736B"/>
                </a:solidFill>
                <a:latin typeface="Arial"/>
                <a:ea typeface="Arial"/>
                <a:cs typeface="Arial"/>
              </a:rPr>
              <a:t>СЦЕНАРИЙ 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DD8960-71F6-44FE-BEA6-F9D96477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095500"/>
            <a:ext cx="51435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450" b="1">
                <a:solidFill>
                  <a:srgbClr val="194E42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94E42"/>
                </a:solidFill>
                <a:latin typeface="Arial"/>
                <a:ea typeface="Arial"/>
                <a:cs typeface="Arial"/>
              </a:rPr>
              <a:t>56,54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0A38C-7676-4850-80DC-DA71A2AF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095500"/>
            <a:ext cx="51435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450" b="1">
                <a:solidFill>
                  <a:srgbClr val="AA7E32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AA7E32"/>
                </a:solidFill>
                <a:latin typeface="Arial"/>
                <a:ea typeface="Arial"/>
                <a:cs typeface="Arial"/>
              </a:rPr>
              <a:t>55,30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309FC-6B83-49B9-91B9-EAAFABC4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209925"/>
            <a:ext cx="5143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3B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B36"/>
                </a:solidFill>
                <a:latin typeface="Arial"/>
                <a:ea typeface="Arial"/>
                <a:cs typeface="Arial"/>
              </a:rPr>
              <a:t>Школа и детсад в Нуре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1DCE4-EE91-4460-B11F-8E00156A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209925"/>
            <a:ext cx="4953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3B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B36"/>
                </a:solidFill>
                <a:latin typeface="Arial"/>
                <a:ea typeface="Arial"/>
                <a:cs typeface="Arial"/>
              </a:rPr>
              <a:t>Та же мера в Есиле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85800" y="3971925"/>
          <a:ext xmlns:a="http://schemas.openxmlformats.org/drawingml/2006/main" cx="10820400" cy="1943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81600"/>
                <a:gridCol w="2819400"/>
                <a:gridCol w="2819400"/>
              </a:tblGrid>
              <a:tr h="4857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EF9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Показатель</a:t>
                      </a:r>
                    </a:p>
                  </a:txBody>
                  <a:tcPr marL="91440" marR="91440" marT="45720" marB="45720">
                    <a:solidFill>
                      <a:srgbClr val="194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EF9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solidFill>
                      <a:srgbClr val="194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EF9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solidFill>
                      <a:srgbClr val="194E42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6"/>
                          </a:solidFill>
                          <a:latin typeface="Arial"/>
                          <a:ea typeface="Arial"/>
                          <a:cs typeface="Arial"/>
                        </a:rPr>
                        <a:t>Точный Score</a:t>
                      </a:r>
                    </a:p>
                  </a:txBody>
                  <a:tcPr marL="91440" marR="91440" marT="45720" marB="45720">
                    <a:solidFill>
                      <a:srgbClr val="FFFE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6"/>
                          </a:solidFill>
                          <a:latin typeface="Arial"/>
                          <a:ea typeface="Arial"/>
                          <a:cs typeface="Arial"/>
                        </a:rPr>
                        <a:t>56,54307</a:t>
                      </a:r>
                    </a:p>
                  </a:txBody>
                  <a:tcPr marL="91440" marR="91440" marT="45720" marB="45720">
                    <a:solidFill>
                      <a:srgbClr val="FFFE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6"/>
                          </a:solidFill>
                          <a:latin typeface="Arial"/>
                          <a:ea typeface="Arial"/>
                          <a:cs typeface="Arial"/>
                        </a:rPr>
                        <a:t>55,29777</a:t>
                      </a:r>
                    </a:p>
                  </a:txBody>
                  <a:tcPr marL="91440" marR="91440" marT="45720" marB="45720">
                    <a:solidFill>
                      <a:srgbClr val="FFFEF9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6"/>
                          </a:solidFill>
                          <a:latin typeface="Arial"/>
                          <a:ea typeface="Arial"/>
                          <a:cs typeface="Arial"/>
                        </a:rPr>
                        <a:t>Расходы, усл. ед.</a:t>
                      </a:r>
                    </a:p>
                  </a:txBody>
                  <a:tcPr marL="91440" marR="91440" marT="45720" marB="45720">
                    <a:solidFill>
                      <a:srgbClr val="FFFE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6"/>
                          </a:solidFill>
                          <a:latin typeface="Arial"/>
                          <a:ea typeface="Arial"/>
                          <a:cs typeface="Arial"/>
                        </a:rPr>
                        <a:t>95</a:t>
                      </a:r>
                    </a:p>
                  </a:txBody>
                  <a:tcPr marL="91440" marR="91440" marT="45720" marB="45720">
                    <a:solidFill>
                      <a:srgbClr val="FFFE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6"/>
                          </a:solidFill>
                          <a:latin typeface="Arial"/>
                          <a:ea typeface="Arial"/>
                          <a:cs typeface="Arial"/>
                        </a:rPr>
                        <a:t>95</a:t>
                      </a:r>
                    </a:p>
                  </a:txBody>
                  <a:tcPr marL="91440" marR="91440" marT="45720" marB="45720">
                    <a:solidFill>
                      <a:srgbClr val="FFFEF9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6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Показателей ниже 40</a:t>
                      </a:r>
                    </a:p>
                  </a:txBody>
                  <a:tcPr marL="91440" marR="91440" marT="45720" marB="45720">
                    <a:solidFill>
                      <a:srgbClr val="FFFE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E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6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EF9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36FAE-C56F-47C9-8B6A-C3B346CA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219825"/>
            <a:ext cx="1085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До решений: Score 52,55768 и 2 критических показателя. Остальные меры одинаковы.</a:t>
            </a:r>
          </a:p>
        </p:txBody>
      </p:sp>
    </p:spTree>
    <p:extLst>
      <p:ext uri="{BB962C8B-B14F-4D97-AF65-F5344CB8AC3E}">
        <p14:creationId xmlns:p14="http://schemas.microsoft.com/office/powerpoint/2010/main" val="18433822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296837-6CEF-4AC0-85D4-F66B9230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"/>
            <a:ext cx="10934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0">
                <a:solidFill>
                  <a:srgbClr val="183B36"/>
                </a:solidFill>
                <a:latin typeface="Georgia"/>
                <a:ea typeface="Georgia"/>
                <a:cs typeface="Georgia"/>
              </a:defRPr>
            </a:pPr>
            <a:r>
              <a:rPr sz="3375" b="0">
                <a:solidFill>
                  <a:srgbClr val="183B36"/>
                </a:solidFill>
                <a:latin typeface="Georgia"/>
                <a:ea typeface="Georgia"/>
                <a:cs typeface="Georgia"/>
              </a:rPr>
              <a:t>Прототип готов к демонстрации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2A3AF5-9A70-49D9-8D50-FFFA47BF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191000" cy="1933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0" b="1">
                <a:solidFill>
                  <a:srgbClr val="194E42"/>
                </a:solidFill>
                <a:latin typeface="Arial"/>
                <a:ea typeface="Arial"/>
                <a:cs typeface="Arial"/>
              </a:defRPr>
            </a:pPr>
            <a:r>
              <a:rPr sz="12000" b="1">
                <a:solidFill>
                  <a:srgbClr val="194E42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3475F-540B-4A65-9FA1-107EC28C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048125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3B36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B36"/>
                </a:solidFill>
                <a:latin typeface="Arial"/>
                <a:ea typeface="Arial"/>
                <a:cs typeface="Arial"/>
              </a:rPr>
              <a:t>тестов проходит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D7B92-C3AB-48E5-B787-1654F6AF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715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B3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83B36"/>
                </a:solidFill>
                <a:latin typeface="Arial"/>
                <a:ea typeface="Arial"/>
                <a:cs typeface="Arial"/>
              </a:rPr>
              <a:t>Python 3.10+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31646-E914-4109-961C-5D845207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19375"/>
            <a:ext cx="571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Локальный расчёт</a:t>
            </a:r>
          </a:p>
          <a:p xmlns:a="http://schemas.openxmlformats.org/drawingml/2006/main">
            <a:pPr>
              <a:defRPr sz="210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Стандартная библиотека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7CD315-CDE8-42D5-A2C7-CB00E966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76675"/>
            <a:ext cx="5715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B3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83B36"/>
                </a:solidFill>
                <a:latin typeface="Arial"/>
                <a:ea typeface="Arial"/>
                <a:cs typeface="Arial"/>
              </a:rPr>
              <a:t>Настоящий OpenAI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2A0792-E332-4303-9B6D-2CFE6E0F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95800"/>
            <a:ext cx="57150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Запрос проверен 23 сентября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2C75F-FF0D-4821-8BF7-2918DAAF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29275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94E4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94E42"/>
                </a:solidFill>
                <a:latin typeface="Arial"/>
                <a:ea typeface="Arial"/>
                <a:cs typeface="Arial"/>
              </a:rPr>
              <a:t>Сравнение A/B и скачивание отчёта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D16F3-96A6-4555-9517-8E56F487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305550"/>
            <a:ext cx="10858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3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2736B"/>
                </a:solidFill>
                <a:latin typeface="Arial"/>
                <a:ea typeface="Arial"/>
                <a:cs typeface="Arial"/>
              </a:rPr>
              <a:t>Код, интерфейс и материалы созданы с существенной помощью OpenAI Codex.</a:t>
            </a:r>
          </a:p>
        </p:txBody>
      </p:sp>
    </p:spTree>
    <p:extLst>
      <p:ext uri="{BB962C8B-B14F-4D97-AF65-F5344CB8AC3E}">
        <p14:creationId xmlns:p14="http://schemas.microsoft.com/office/powerpoint/2010/main" val="15305552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94E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7DD4C-88A1-42E5-92AB-A1F27673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109347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00" b="0">
                <a:solidFill>
                  <a:srgbClr val="F5F2E8"/>
                </a:solidFill>
                <a:latin typeface="Georgia"/>
                <a:ea typeface="Georgia"/>
                <a:cs typeface="Georgia"/>
              </a:defRPr>
            </a:pPr>
            <a:r>
              <a:rPr sz="4800" b="0">
                <a:solidFill>
                  <a:srgbClr val="F5F2E8"/>
                </a:solidFill>
                <a:latin typeface="Georgia"/>
                <a:ea typeface="Georgia"/>
                <a:cs typeface="Georgia"/>
              </a:rPr>
              <a:t>Сравните планы</a:t>
            </a:r>
          </a:p>
          <a:p xmlns:a="http://schemas.openxmlformats.org/drawingml/2006/main">
            <a:pPr>
              <a:defRPr sz="4800" b="0">
                <a:solidFill>
                  <a:srgbClr val="F5F2E8"/>
                </a:solidFill>
                <a:latin typeface="Georgia"/>
                <a:ea typeface="Georgia"/>
                <a:cs typeface="Georgia"/>
              </a:defRPr>
            </a:pPr>
            <a:r>
              <a:rPr sz="4800" b="0">
                <a:solidFill>
                  <a:srgbClr val="F5F2E8"/>
                </a:solidFill>
                <a:latin typeface="Georgia"/>
                <a:ea typeface="Georgia"/>
                <a:cs typeface="Georgia"/>
              </a:rPr>
              <a:t>до принятия решения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BDD3C2-8139-4313-8EE6-B49C1079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81375"/>
            <a:ext cx="106680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Одна мера. Другой район.</a:t>
            </a:r>
          </a:p>
          <a:p xmlns:a="http://schemas.openxmlformats.org/drawingml/2006/main">
            <a:pPr>
              <a:defRPr sz="2850" b="0">
                <a:solidFill>
                  <a:srgbClr val="F5F2E8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5F2E8"/>
                </a:solidFill>
                <a:latin typeface="Arial"/>
                <a:ea typeface="Arial"/>
                <a:cs typeface="Arial"/>
              </a:rPr>
              <a:t>Измеримая разница в результате.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4F4D63-99BA-49C7-AD4E-07F76B96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09587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8C77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8C77C"/>
                </a:solidFill>
                <a:latin typeface="Arial"/>
                <a:ea typeface="Arial"/>
                <a:cs typeface="Arial"/>
              </a:rPr>
              <a:t>ДЕМО: ПРИМЕР ОРГАНИЗАТОРОВ И A/B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98E48-14B8-4DB7-8CAF-30CFF40D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9817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ED2A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ED2AE"/>
                </a:solidFill>
                <a:latin typeface="Arial"/>
                <a:ea typeface="Arial"/>
                <a:cs typeface="Arial"/>
              </a:rPr>
              <a:t>Синтетические данные. Реальный прогноз требует калибровки.</a:t>
            </a:r>
          </a:p>
          <a:p xmlns:a="http://schemas.openxmlformats.org/drawingml/2006/main">
            <a:pPr>
              <a:defRPr sz="1575" b="0">
                <a:solidFill>
                  <a:srgbClr val="BED2A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ED2AE"/>
                </a:solidFill>
                <a:latin typeface="Arial"/>
                <a:ea typeface="Arial"/>
                <a:cs typeface="Arial"/>
              </a:rPr>
              <a:t>AI требует сети. Поиск оптимума и случайные события пока не реализованы.</a:t>
            </a:r>
          </a:p>
        </p:txBody>
      </p:sp>
    </p:spTree>
    <p:extLst>
      <p:ext uri="{BB962C8B-B14F-4D97-AF65-F5344CB8AC3E}">
        <p14:creationId xmlns:p14="http://schemas.microsoft.com/office/powerpoint/2010/main" val="425127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2026-09-23T12:53:32.9810000Z</dcterms:created>
  <dcterms:modified xsi:type="dcterms:W3CDTF">2026-09-23T12:53:32.9810000Z</dcterms:modified>
</coreProperties>
</file>